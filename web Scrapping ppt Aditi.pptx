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5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</p:embeddedFont>
    <p:embeddedFont>
      <p:font typeface="TT Interphases Bold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2941" autoAdjust="0"/>
  </p:normalViewPr>
  <p:slideViewPr>
    <p:cSldViewPr snapToGrid="0">
      <p:cViewPr>
        <p:scale>
          <a:sx n="80" d="100"/>
          <a:sy n="8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796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0507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074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7010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diti-patil-23b61325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hyperlink" Target="https://github.com/51Adit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68104" y="3668825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/>
              <a:t>EDA on Travel Triangle Website</a:t>
            </a:r>
            <a:br>
              <a:rPr lang="en-IN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7C7A3-93E8-8544-EAF7-A06ECBB3CBAA}"/>
              </a:ext>
            </a:extLst>
          </p:cNvPr>
          <p:cNvSpPr txBox="1"/>
          <p:nvPr/>
        </p:nvSpPr>
        <p:spPr>
          <a:xfrm>
            <a:off x="2777707" y="4746003"/>
            <a:ext cx="6174658" cy="1155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36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PRESENTED BY :</a:t>
            </a:r>
          </a:p>
          <a:p>
            <a:pPr algn="ctr">
              <a:lnSpc>
                <a:spcPts val="2936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0000"/>
                </a:solidFill>
                <a:latin typeface="TT Interphases Bold"/>
                <a:sym typeface="TT Interphases Bold"/>
              </a:rPr>
              <a:t>ADITI</a:t>
            </a:r>
            <a:r>
              <a:rPr lang="en-US" sz="1600" b="1" dirty="0">
                <a:solidFill>
                  <a:srgbClr val="FF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PATIL</a:t>
            </a:r>
          </a:p>
          <a:p>
            <a:pPr algn="ctr">
              <a:lnSpc>
                <a:spcPts val="2936"/>
              </a:lnSpc>
              <a:spcBef>
                <a:spcPct val="0"/>
              </a:spcBef>
            </a:pPr>
            <a:endParaRPr lang="en-US" sz="1400" b="1" dirty="0">
              <a:solidFill>
                <a:srgbClr val="FF62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20313-3D22-29CA-72A8-AEF89703FBE0}"/>
              </a:ext>
            </a:extLst>
          </p:cNvPr>
          <p:cNvSpPr txBox="1"/>
          <p:nvPr/>
        </p:nvSpPr>
        <p:spPr>
          <a:xfrm>
            <a:off x="427656" y="1179871"/>
            <a:ext cx="6794090" cy="2543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Name : Aditi Patil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Education : Bachelor of technology (Computer science and engineering)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77097-D444-1791-3001-C79C83719B02}"/>
              </a:ext>
            </a:extLst>
          </p:cNvPr>
          <p:cNvSpPr txBox="1"/>
          <p:nvPr/>
        </p:nvSpPr>
        <p:spPr>
          <a:xfrm>
            <a:off x="570271" y="4070555"/>
            <a:ext cx="2782529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hlinkClick r:id="rId3"/>
              </a:rPr>
              <a:t>LinkedIn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hlinkClick r:id="rId3"/>
              </a:rPr>
              <a:t> </a:t>
            </a:r>
            <a:r>
              <a:rPr lang="en-IN" sz="3200" b="1" dirty="0" err="1">
                <a:hlinkClick r:id="rId4"/>
              </a:rPr>
              <a:t>Github</a:t>
            </a:r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084D69-9B3F-E83C-8F10-3CBCB716E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006" y="1435510"/>
            <a:ext cx="5110175" cy="30873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5F359A-845D-54E1-5395-FDE79341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42" y="78657"/>
            <a:ext cx="3242186" cy="3242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4F663E-FAFF-0F26-4614-8BECFA3CA8B0}"/>
              </a:ext>
            </a:extLst>
          </p:cNvPr>
          <p:cNvSpPr txBox="1"/>
          <p:nvPr/>
        </p:nvSpPr>
        <p:spPr>
          <a:xfrm>
            <a:off x="5279923" y="432619"/>
            <a:ext cx="5761703" cy="217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Statement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data is very large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understand customer choices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compare packages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D374EC-DD88-950B-2197-CD2A450B0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785" y="3566805"/>
            <a:ext cx="2929860" cy="25685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368669-086E-BC81-8BC0-5EC7612B08EE}"/>
              </a:ext>
            </a:extLst>
          </p:cNvPr>
          <p:cNvSpPr txBox="1"/>
          <p:nvPr/>
        </p:nvSpPr>
        <p:spPr>
          <a:xfrm>
            <a:off x="907025" y="3957040"/>
            <a:ext cx="5188975" cy="217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Objective :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popular destinations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 trends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B4BED1-21E0-7108-8AA9-9594E7BD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250723"/>
            <a:ext cx="11562736" cy="58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6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EBDF-D8F1-917D-19DC-D5967387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1" y="-16744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First look of website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BC1E5-CD67-5282-E296-24F121F5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869927"/>
            <a:ext cx="11560278" cy="539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155A-6A13-C200-EA2C-41FE181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7" y="79990"/>
            <a:ext cx="10429568" cy="113921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EXTRACTING THE CONTENT FORM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14FCD-42EE-4AFE-29B4-57FA3EE1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61" t="6140" r="38549" b="25939"/>
          <a:stretch>
            <a:fillRect/>
          </a:stretch>
        </p:blipFill>
        <p:spPr>
          <a:xfrm>
            <a:off x="445586" y="1309987"/>
            <a:ext cx="3205316" cy="4568300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1435C4E-B165-28EC-5D16-76CA1C016A74}"/>
              </a:ext>
            </a:extLst>
          </p:cNvPr>
          <p:cNvCxnSpPr>
            <a:cxnSpLocks/>
          </p:cNvCxnSpPr>
          <p:nvPr/>
        </p:nvCxnSpPr>
        <p:spPr>
          <a:xfrm flipV="1">
            <a:off x="3401961" y="2980681"/>
            <a:ext cx="1504336" cy="2836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C17330-5414-5C6F-042C-B751EE21960F}"/>
              </a:ext>
            </a:extLst>
          </p:cNvPr>
          <p:cNvCxnSpPr/>
          <p:nvPr/>
        </p:nvCxnSpPr>
        <p:spPr>
          <a:xfrm>
            <a:off x="1474839" y="3507658"/>
            <a:ext cx="2959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272C84-330B-D57B-6808-07D56A46503B}"/>
              </a:ext>
            </a:extLst>
          </p:cNvPr>
          <p:cNvCxnSpPr/>
          <p:nvPr/>
        </p:nvCxnSpPr>
        <p:spPr>
          <a:xfrm>
            <a:off x="1907458" y="3834581"/>
            <a:ext cx="25268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8780F08-4544-6683-EF60-DE2200474AC9}"/>
              </a:ext>
            </a:extLst>
          </p:cNvPr>
          <p:cNvCxnSpPr/>
          <p:nvPr/>
        </p:nvCxnSpPr>
        <p:spPr>
          <a:xfrm>
            <a:off x="648929" y="4237703"/>
            <a:ext cx="3785419" cy="6390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8BAFCC-BFCC-6477-EF92-2DCB101906BB}"/>
              </a:ext>
            </a:extLst>
          </p:cNvPr>
          <p:cNvSpPr txBox="1"/>
          <p:nvPr/>
        </p:nvSpPr>
        <p:spPr>
          <a:xfrm>
            <a:off x="4906297" y="2780626"/>
            <a:ext cx="244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Package Name</a:t>
            </a:r>
            <a:endParaRPr lang="en-IN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66E9DA-BBC7-42F0-003D-1893BCB30925}"/>
              </a:ext>
            </a:extLst>
          </p:cNvPr>
          <p:cNvSpPr txBox="1"/>
          <p:nvPr/>
        </p:nvSpPr>
        <p:spPr>
          <a:xfrm>
            <a:off x="4434348" y="3307603"/>
            <a:ext cx="1877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Trip Duration</a:t>
            </a:r>
            <a:endParaRPr lang="en-IN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7BC1C6-A89C-D307-F62C-A9A2A0066CD9}"/>
              </a:ext>
            </a:extLst>
          </p:cNvPr>
          <p:cNvSpPr txBox="1"/>
          <p:nvPr/>
        </p:nvSpPr>
        <p:spPr>
          <a:xfrm>
            <a:off x="4508090" y="3654191"/>
            <a:ext cx="1622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Discount</a:t>
            </a:r>
            <a:endParaRPr lang="en-IN" sz="2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9AD964-20D6-C467-5F2F-7581E9A76239}"/>
              </a:ext>
            </a:extLst>
          </p:cNvPr>
          <p:cNvSpPr txBox="1"/>
          <p:nvPr/>
        </p:nvSpPr>
        <p:spPr>
          <a:xfrm>
            <a:off x="4508090" y="4200834"/>
            <a:ext cx="1848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Original Price</a:t>
            </a:r>
            <a:endParaRPr lang="en-IN" sz="2000" b="1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C684332-0612-73FA-1CAA-466E457DD623}"/>
              </a:ext>
            </a:extLst>
          </p:cNvPr>
          <p:cNvCxnSpPr/>
          <p:nvPr/>
        </p:nvCxnSpPr>
        <p:spPr>
          <a:xfrm>
            <a:off x="1907458" y="4129548"/>
            <a:ext cx="2600632" cy="2738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62A9F2B-6D20-1FE2-0293-8FC86639EAD6}"/>
              </a:ext>
            </a:extLst>
          </p:cNvPr>
          <p:cNvSpPr txBox="1"/>
          <p:nvPr/>
        </p:nvSpPr>
        <p:spPr>
          <a:xfrm>
            <a:off x="4493341" y="4698328"/>
            <a:ext cx="235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Discounted Price</a:t>
            </a:r>
            <a:endParaRPr lang="en-IN" sz="2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B6B54C-4ADF-1777-6AF5-59ADC9843708}"/>
              </a:ext>
            </a:extLst>
          </p:cNvPr>
          <p:cNvSpPr txBox="1"/>
          <p:nvPr/>
        </p:nvSpPr>
        <p:spPr>
          <a:xfrm>
            <a:off x="7285704" y="1219200"/>
            <a:ext cx="4460709" cy="3163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WEBSITE USED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travel packages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destination, price, days, package type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plan trips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multiple destinations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2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7B27-5A97-8F60-3F58-6A2F890E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626" y="-45569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Raw Data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18C1A-14F4-0B9D-AB45-F2D529ED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40" y="437513"/>
            <a:ext cx="11101866" cy="2787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EC1A98-0D14-FCED-14BE-3B5F7F4359D0}"/>
              </a:ext>
            </a:extLst>
          </p:cNvPr>
          <p:cNvSpPr txBox="1"/>
          <p:nvPr/>
        </p:nvSpPr>
        <p:spPr>
          <a:xfrm>
            <a:off x="3974690" y="3122010"/>
            <a:ext cx="3609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New </a:t>
            </a:r>
            <a:r>
              <a:rPr lang="en-US" sz="3200" b="1" dirty="0" err="1">
                <a:solidFill>
                  <a:srgbClr val="FF0000"/>
                </a:solidFill>
              </a:rPr>
              <a:t>Dataframe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6DBD-C190-89E2-E6CA-00F4B987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40" y="3706785"/>
            <a:ext cx="11101866" cy="314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015E-2A90-6847-7F42-03FC6DE2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978" y="93819"/>
            <a:ext cx="10515600" cy="1325563"/>
          </a:xfrm>
        </p:spPr>
        <p:txBody>
          <a:bodyPr/>
          <a:lstStyle/>
          <a:p>
            <a:r>
              <a:rPr lang="en-US" b="1" dirty="0"/>
              <a:t>Regex Used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3C6A5-3010-368D-0EAA-CDFAD9080452}"/>
              </a:ext>
            </a:extLst>
          </p:cNvPr>
          <p:cNvSpPr txBox="1"/>
          <p:nvPr/>
        </p:nvSpPr>
        <p:spPr>
          <a:xfrm>
            <a:off x="914399" y="1055077"/>
            <a:ext cx="82496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(Regular Expression) is used to find and extract specific patterns from text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dataset, the Duration column contains text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“4 Days &amp; 3 Night’’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for analysis, we need only the numbers: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Nights =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Regex helps us extract these numbers automatically.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r'(\d+)\s*Days\s*&amp;\s*(\d+)\s*Night'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823F5-6E28-6764-86A5-45552C0C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096" y="621052"/>
            <a:ext cx="2441750" cy="2604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D93590-F931-85F7-334A-2445F8D2D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095" y="3392665"/>
            <a:ext cx="2441749" cy="25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7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5C2B-A424-1838-16FE-2DC6C74B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77B50-9A59-682A-B9FF-C07FB1675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6" y="265471"/>
            <a:ext cx="11153468" cy="58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7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6FEF-7223-9C59-02E3-9ED4BE391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083" y="-157316"/>
            <a:ext cx="4864510" cy="1325563"/>
          </a:xfrm>
        </p:spPr>
        <p:txBody>
          <a:bodyPr>
            <a:normAutofit/>
          </a:bodyPr>
          <a:lstStyle/>
          <a:p>
            <a:r>
              <a:rPr lang="en-IN" sz="2400" b="1" dirty="0"/>
              <a:t>UNIVARIATE NUMERICAL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3744C4-3ED1-4D35-8A94-78FDC59EF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45" y="818611"/>
            <a:ext cx="5561251" cy="3222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0C1795-BC5C-8905-C272-4D83A5CD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" t="1920" r="1780"/>
          <a:stretch>
            <a:fillRect/>
          </a:stretch>
        </p:blipFill>
        <p:spPr>
          <a:xfrm>
            <a:off x="6027174" y="818611"/>
            <a:ext cx="5905380" cy="3222447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BEE48DCE-1604-5994-9F67-97CA1D80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93" y="3906235"/>
            <a:ext cx="7611379" cy="25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packages range between ₹5,000 – ₹30,000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slightly right-skewed (few high-price values)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of data is concentrated around ₹10,000 – ₹20,000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outliers above ₹50,000+ (premium packages) </a:t>
            </a:r>
          </a:p>
        </p:txBody>
      </p:sp>
    </p:spTree>
    <p:extLst>
      <p:ext uri="{BB962C8B-B14F-4D97-AF65-F5344CB8AC3E}">
        <p14:creationId xmlns:p14="http://schemas.microsoft.com/office/powerpoint/2010/main" val="3002883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0E34-DDAE-165C-A923-07D0424E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097" y="-224810"/>
            <a:ext cx="5159477" cy="1325563"/>
          </a:xfrm>
        </p:spPr>
        <p:txBody>
          <a:bodyPr/>
          <a:lstStyle/>
          <a:p>
            <a:r>
              <a:rPr lang="en-IN" sz="2400" b="1" dirty="0"/>
              <a:t>UNIVARIATE NUMERICAL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7E355-4AF3-C262-18B2-A291C5AD4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0" y="721838"/>
            <a:ext cx="5841395" cy="3901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F9B32-A942-F34F-9C19-DD5B892A1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835" y="721838"/>
            <a:ext cx="6007510" cy="379105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3514E33-98B6-7ABF-9928-7CE47894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7" y="4163418"/>
            <a:ext cx="5197257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trips are between 3 – 7 days 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Few trips go beyond 10 days (outliers) 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Peak around 4 – 5 days </a:t>
            </a:r>
          </a:p>
        </p:txBody>
      </p:sp>
    </p:spTree>
    <p:extLst>
      <p:ext uri="{BB962C8B-B14F-4D97-AF65-F5344CB8AC3E}">
        <p14:creationId xmlns:p14="http://schemas.microsoft.com/office/powerpoint/2010/main" val="372664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70BF-7D76-4F09-6878-F06654D9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904" y="-146152"/>
            <a:ext cx="4962831" cy="1325563"/>
          </a:xfrm>
        </p:spPr>
        <p:txBody>
          <a:bodyPr/>
          <a:lstStyle/>
          <a:p>
            <a:r>
              <a:rPr lang="en-IN" sz="2400" b="1" dirty="0"/>
              <a:t>UNIVARIATE CATEGORICAL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6610D-6B0B-11A8-792D-BCADD263C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4" y="900634"/>
            <a:ext cx="5918829" cy="5264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E07CD8-20F4-54EF-852D-8AA2A322654B}"/>
              </a:ext>
            </a:extLst>
          </p:cNvPr>
          <p:cNvSpPr txBox="1"/>
          <p:nvPr/>
        </p:nvSpPr>
        <p:spPr>
          <a:xfrm>
            <a:off x="6484374" y="989870"/>
            <a:ext cx="521828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 → Highest number of packages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Kerala → Popular for nature &amp; backwater tourism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Manali → Very popular hill station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Munnar → Famous for scenic beauty and tea gardens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Himachal Pradesh → Preferred hill destination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destinations cover major share of dataset (~50–60%)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5393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69F9-3F13-5FDB-A2D1-DC660527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57" y="-92075"/>
            <a:ext cx="10515600" cy="1325563"/>
          </a:xfrm>
        </p:spPr>
        <p:txBody>
          <a:bodyPr/>
          <a:lstStyle/>
          <a:p>
            <a:r>
              <a:rPr lang="en-IN" sz="2400" b="1" dirty="0"/>
              <a:t>BIVARIATE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770C8-3480-D9CB-DC13-A0814CFB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7" y="1233488"/>
            <a:ext cx="6773800" cy="4575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E505AC-35FF-CD55-54AE-8274F981B57A}"/>
              </a:ext>
            </a:extLst>
          </p:cNvPr>
          <p:cNvSpPr txBox="1"/>
          <p:nvPr/>
        </p:nvSpPr>
        <p:spPr>
          <a:xfrm>
            <a:off x="7217229" y="1396774"/>
            <a:ext cx="4702628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increases as number of days increases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relationship between duration and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trips are significantly more expensive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is a key factor affecting package pricing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540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EA0B-FE60-2769-2786-A3FCD514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543" y="-168275"/>
            <a:ext cx="2982686" cy="1325563"/>
          </a:xfrm>
        </p:spPr>
        <p:txBody>
          <a:bodyPr/>
          <a:lstStyle/>
          <a:p>
            <a:r>
              <a:rPr lang="en-IN" sz="2400" b="1" dirty="0"/>
              <a:t>BIVARIATE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06F98-7EED-76B2-C0A5-1C5F9D89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1" y="947814"/>
            <a:ext cx="6216211" cy="4962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7052B6-9F3D-42C3-AC61-B6BD2531AC9C}"/>
              </a:ext>
            </a:extLst>
          </p:cNvPr>
          <p:cNvSpPr txBox="1"/>
          <p:nvPr/>
        </p:nvSpPr>
        <p:spPr>
          <a:xfrm>
            <a:off x="6629869" y="1066743"/>
            <a:ext cx="515936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varies across different package types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package types offer higher average discounts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packages may have higher discount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and discount strategy depends on package category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2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744C45-BD81-8F6F-12D2-83241D3CA160}"/>
              </a:ext>
            </a:extLst>
          </p:cNvPr>
          <p:cNvSpPr txBox="1"/>
          <p:nvPr/>
        </p:nvSpPr>
        <p:spPr>
          <a:xfrm>
            <a:off x="4256315" y="1726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BIVARIATE ANALYSIS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DE182-D718-C60B-42E4-A2AD91E0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5" y="634348"/>
            <a:ext cx="6706536" cy="5287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774F30-A4AC-DAE0-F55A-F547C19AF4A1}"/>
              </a:ext>
            </a:extLst>
          </p:cNvPr>
          <p:cNvSpPr txBox="1"/>
          <p:nvPr/>
        </p:nvSpPr>
        <p:spPr>
          <a:xfrm>
            <a:off x="7097486" y="925286"/>
            <a:ext cx="4234543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duration varies across different package types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package types offer longer duration trips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trips are concentrated within a common range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outliers represent very long trips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7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5413-317F-E1AF-F9F4-878489C7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060" y="-117197"/>
            <a:ext cx="4959699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n-IN" sz="24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MULTIVARIATE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1DC13-EE72-B754-8184-95185561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8" y="840383"/>
            <a:ext cx="6971822" cy="5771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9DFE2B-6C81-E654-EFB4-0EE3E4096A23}"/>
              </a:ext>
            </a:extLst>
          </p:cNvPr>
          <p:cNvSpPr txBox="1"/>
          <p:nvPr/>
        </p:nvSpPr>
        <p:spPr>
          <a:xfrm>
            <a:off x="7173760" y="1059120"/>
            <a:ext cx="494713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increases with number of days across all package types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positive relationship between duration and price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package types show variation in pricing levels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package types are consistently more expensive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443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D18B-C68A-001C-2AFF-5DAD22D5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770" y="-167438"/>
            <a:ext cx="4125685" cy="1325563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0000"/>
              </a:buClr>
            </a:pPr>
            <a:r>
              <a:rPr lang="en-IN" sz="24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MULTIVARIATE ANALYSIS</a:t>
            </a:r>
            <a:endParaRPr lang="en-IN" sz="24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53B55-7868-339B-68C4-82C82C8D4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8" y="823681"/>
            <a:ext cx="5838262" cy="5444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40E2F1-4595-627B-9AC7-0BB256BB2AB6}"/>
              </a:ext>
            </a:extLst>
          </p:cNvPr>
          <p:cNvSpPr txBox="1"/>
          <p:nvPr/>
        </p:nvSpPr>
        <p:spPr>
          <a:xfrm>
            <a:off x="6196652" y="701852"/>
            <a:ext cx="5838262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Near-perfect correlation (~0.99) between Original Price and Discount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consistent and standardized discount 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correlation (1.0) between Days and Nights shows data redundancy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duration shows moderate positive correlation with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 like destination or hotel type also influence pricing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68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098B-5308-6D29-F2C6-637A5589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44" y="224448"/>
            <a:ext cx="10515600" cy="1325563"/>
          </a:xfrm>
        </p:spPr>
        <p:txBody>
          <a:bodyPr/>
          <a:lstStyle/>
          <a:p>
            <a:r>
              <a:rPr lang="en-IN" b="1" dirty="0"/>
              <a:t>KEY INSIGHT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E1E0F-2CC5-4749-0BF1-8532C1FC8953}"/>
              </a:ext>
            </a:extLst>
          </p:cNvPr>
          <p:cNvSpPr txBox="1"/>
          <p:nvPr/>
        </p:nvSpPr>
        <p:spPr>
          <a:xfrm>
            <a:off x="311855" y="1238512"/>
            <a:ext cx="631353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destinations: Goa, Manali, Kerala, Munnar (~50% share)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prices fall in ₹10,000 – ₹25,000 range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are mostly short (3–7 days)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segment exists but is small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A27F3-3661-F98C-8B92-6A2B3BEDA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430" y="1238511"/>
            <a:ext cx="5857833" cy="45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20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53B2-6826-4286-D940-DBC5CAB38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102" y="0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87C85-20BA-5904-0B45-5E0DA13954E8}"/>
              </a:ext>
            </a:extLst>
          </p:cNvPr>
          <p:cNvSpPr txBox="1"/>
          <p:nvPr/>
        </p:nvSpPr>
        <p:spPr>
          <a:xfrm>
            <a:off x="884256" y="1426866"/>
            <a:ext cx="7717134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prefer short and affordable trip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is strongly affected by duration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destinations dominate 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helps improve pricing and marketing strategy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A662E-2429-9B7B-64C4-4BA5CE48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073" y="933035"/>
            <a:ext cx="3505413" cy="49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3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549</Words>
  <Application>Microsoft Office PowerPoint</Application>
  <PresentationFormat>Widescreen</PresentationFormat>
  <Paragraphs>102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Libre Baskerville</vt:lpstr>
      <vt:lpstr>TT Interphases Bold</vt:lpstr>
      <vt:lpstr>Arial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First look of website</vt:lpstr>
      <vt:lpstr>EXTRACTING THE CONTENT FORM</vt:lpstr>
      <vt:lpstr>Raw Data</vt:lpstr>
      <vt:lpstr>Regex Used</vt:lpstr>
      <vt:lpstr>PowerPoint Presentation</vt:lpstr>
      <vt:lpstr>UNIVARIATE NUMERICAL ANALYSIS</vt:lpstr>
      <vt:lpstr>UNIVARIATE NUMERICAL ANALYSIS</vt:lpstr>
      <vt:lpstr>UNIVARIATE CATEGORICAL ANALYSIS</vt:lpstr>
      <vt:lpstr>BIVARIATE ANALYSIS</vt:lpstr>
      <vt:lpstr>BIVARIATE ANALYSIS</vt:lpstr>
      <vt:lpstr>PowerPoint Presentation</vt:lpstr>
      <vt:lpstr>MULTIVARIATE ANALYSIS</vt:lpstr>
      <vt:lpstr>MULTIVARIATE ANALYSIS</vt:lpstr>
      <vt:lpstr>KEY INSIGHT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aditipatil.9704@outlook.com</cp:lastModifiedBy>
  <cp:revision>6</cp:revision>
  <dcterms:created xsi:type="dcterms:W3CDTF">2021-02-16T05:19:01Z</dcterms:created>
  <dcterms:modified xsi:type="dcterms:W3CDTF">2026-04-18T11:27:09Z</dcterms:modified>
</cp:coreProperties>
</file>